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10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1097280"/>
            <a:ext cx="256032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1371600"/>
            <a:ext cx="2560320" cy="36576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28016" cy="2194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2D3EE"/>
                </a:solidFill>
                <a:latin typeface="Arial"/>
              </a:rPr>
              <a:t>Open 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Self-Hosted AI Coding Agent</a:t>
            </a:r>
          </a:p>
          <a:p>
            <a:r>
              <a:rPr sz="3000" b="1">
                <a:solidFill>
                  <a:srgbClr val="FFFFFF"/>
                </a:solidFill>
                <a:latin typeface="Arial"/>
              </a:rPr>
              <a:t>Workspace &amp; Governance 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6EA"/>
                </a:solidFill>
                <a:latin typeface="Arial"/>
              </a:rPr>
              <a:t>One place for every AI coding tool your team uses — keys, cost, and risk under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02920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Apache 2.0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502920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v1.2.0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0292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12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Self-Hosted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E93B6"/>
                </a:solidFill>
                <a:latin typeface="Arial"/>
              </a:rPr>
              <a:t>Product Overview for Customers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When AI Coding Tools Meet Teams, the Real Work Begins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Arial"/>
              </a:rPr>
              <a:t>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Keys Everywhere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C6DE"/>
                </a:solidFill>
                <a:latin typeface="Arial"/>
              </a:rPr>
              <a:t>API keys scattered across laptops and remote machines — high leak risk, hard to rotate, no traceability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0020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8745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Arial"/>
              </a:rPr>
              <a:t>🖥️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4688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Hard to Run Remotely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88036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C6DE"/>
                </a:solidFill>
                <a:latin typeface="Arial"/>
              </a:rPr>
              <a:t>AI CLIs belong on intranet dev, staging, or GPU machines; repeatedly sharing SSH credentials is clumsy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0020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87452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Arial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46888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Fragmented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8036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C6DE"/>
                </a:solidFill>
                <a:latin typeface="Arial"/>
              </a:rPr>
              <a:t>Claude Code, Qwen Code, Codex, OpenClaw each on their own — no unified entry point or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052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Arial"/>
              </a:rP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Cost Blind Spot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406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C6DE"/>
                </a:solidFill>
                <a:latin typeface="Arial"/>
              </a:rPr>
              <a:t>How many tokens, how much money, who is using what, any overspend — largely a black 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16052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4348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Arial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No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4406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C6DE"/>
                </a:solidFill>
                <a:latin typeface="Arial"/>
              </a:rPr>
              <a:t>Compliance, audit, quotas, and sensitive-content screening are missing — production is out of reach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16052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443484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E293B"/>
                </a:solidFill>
                <a:latin typeface="Arial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50292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Unproven ROI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544068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8C6DE"/>
                </a:solidFill>
                <a:latin typeface="Arial"/>
              </a:rPr>
              <a:t>AI payback is unclear, efficiency gains are unquantified, and decisions lack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Arial"/>
              </a:rPr>
              <a:t>WHAT IS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Arial"/>
              </a:rPr>
              <a:t>One Platform, Double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1F3A"/>
                </a:solidFill>
                <a:latin typeface="Arial"/>
              </a:rPr>
              <a:t>Open ACE = AI Coding Workspace + Governance 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64748B"/>
                </a:solidFill>
                <a:latin typeface="Arial"/>
              </a:rPr>
              <a:t>Developers use Claude Code, Qwen Code, Codex, OpenClaw and more from one browser workspace, running them on the team's own remote machines;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64748B"/>
                </a:solidFill>
                <a:latin typeface="Arial"/>
              </a:rPr>
              <a:t>administrators centrally manage API keys, access, cost, quotas, audit, and compliance — fully self-hosted, data never leaves your network.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703320"/>
            <a:ext cx="2514600" cy="9144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F3A"/>
                </a:solidFill>
                <a:latin typeface="Arial"/>
              </a:rPr>
              <a:t>Unified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83480"/>
            <a:ext cx="1965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Arial"/>
              </a:rPr>
              <a:t>Many AI CLIs, one browser workspace, one history, one governance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370332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3703320"/>
            <a:ext cx="2514600" cy="9144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6472" y="4023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F3A"/>
                </a:solidFill>
                <a:latin typeface="Arial"/>
              </a:rPr>
              <a:t>Remote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4983480"/>
            <a:ext cx="1965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Arial"/>
              </a:rPr>
              <a:t>Remote Agent runs CLIs on target machines — no credential handoffs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70332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3703320"/>
            <a:ext cx="2514600" cy="9144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4023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F3A"/>
                </a:solidFill>
                <a:latin typeface="Arial"/>
              </a:rPr>
              <a:t>Key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983480"/>
            <a:ext cx="1965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Arial"/>
              </a:rPr>
              <a:t>Keys stay encrypted server-side; sessions get short-lived proxy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0536" y="3703320"/>
            <a:ext cx="25146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0536" y="3703320"/>
            <a:ext cx="2514600" cy="9144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4023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46177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1F3A"/>
                </a:solidFill>
                <a:latin typeface="Arial"/>
              </a:rPr>
              <a:t>Governance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4983480"/>
            <a:ext cx="1965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Arial"/>
              </a:rPr>
              <a:t>Tokens, cost, quotas, audit, compliance, ROI — at a glance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TWO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Two Modes, Two Audiences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5349240" cy="42976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349240" cy="6400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🚀  Work Mode — Your AI Super 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2D3EE"/>
                </a:solidFill>
                <a:latin typeface="Arial"/>
              </a:rPr>
              <a:t>For every developer: a smooth AI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8463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Multi-tool: Claude Code / Qwen Code / Codex / OpenClaw / ZCode in one place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Remote workspace: pick a machine in the browser, start AI sessions, terminal, file browsing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Smart sessions: history, recovery, context memory, cross-tool sync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Prompt library: share best prompts across the team, reuse in one click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Quick search: find any past conversation, knowledge never lost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645920"/>
            <a:ext cx="5349240" cy="429768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645920"/>
            <a:ext cx="5349240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8308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B1F3A"/>
                </a:solidFill>
                <a:latin typeface="Arial"/>
              </a:rPr>
              <a:t>📊  Manage Mode — Data-Driven AI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68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E6FF5"/>
                </a:solidFill>
                <a:latin typeface="Arial"/>
              </a:rPr>
              <a:t>For administrators: full insight and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926080"/>
            <a:ext cx="48463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Usage visibility: token trends, cost analysis, usage heatmaps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API key governance: encrypted storage, proxy-token calls, no key distribution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Smart alerts: quota warnings, anomaly detection, overspend notices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Compliance audit: sensitive-content detection, traceable history, CSV reports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Multi-tenant + ROI: department isolation and quantified payback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Arial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Arial"/>
              </a:rPr>
              <a:t>Eight Core Capabilities, Full AI Coding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830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Agent Control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70048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Arial"/>
              </a:rPr>
              <a:t>Manage tools, users, machines, keys, quotas, cost and audit in one place — without replacing any 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5544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7830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Multi-CLI Adapters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70048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Arial"/>
              </a:rPr>
              <a:t>Native adapters for Claude Code, Qwen Code, Codex, OpenClaw, ZCode — with session recovery and permission modes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5544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7830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331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Remote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70048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Arial"/>
              </a:rPr>
              <a:t>AI CLIs run on Linux/macOS/Windows machines with in-browser terminal and VSCode proxy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55448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7736" y="17830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23317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API Key Proxy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670048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Arial"/>
              </a:rPr>
              <a:t>Real keys encrypted server-side; remote agents hold short-lived tokens with unified quotas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85032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136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46227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Autonomous Dev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800600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Arial"/>
              </a:rPr>
              <a:t>End-to-end workflow: plan → code → PR review → report; retry/fork/milestones, gVisor/Kata sandbox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7288" y="3685032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9136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46227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Model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800600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Arial"/>
              </a:rPr>
              <a:t>LiteLLM-compatible gateway, vendor-neutral, keeps quotas and attribution intact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3685032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9136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☁️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46227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Cloud-Native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800600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Arial"/>
              </a:rPr>
              <a:t>One-command Kustomize deploy, 3 replicas + HPA + Prometheus metrics, OpenShift-compatible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61704" y="3685032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7736" y="39136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446227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F3A"/>
                </a:solidFill>
                <a:latin typeface="Arial"/>
              </a:rPr>
              <a:t>Enterprise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4800600"/>
            <a:ext cx="22402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Arial"/>
              </a:rPr>
              <a:t>SSO / Feishu / DingTalk, multi-tenant permissions, Kubernetes, reverse proxy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Remote Agent + API Key Proxy: Secure and Efficient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498079" cy="12801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109728" cy="128016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Browser (React SPA)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7132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Arial"/>
              </a:rPr>
              <a:t>Work Mode (everyone)  ·  Manage Mode (admins)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7498079" cy="12801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09728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3639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Flask API Server (self-hosted)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38728"/>
            <a:ext cx="7132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Arial"/>
              </a:rPr>
              <a:t>23 blueprints · encrypted key storage · quotas/audit/compliance · issues short-lived proxy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7498079" cy="12801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109728" cy="1280160"/>
          </a:xfrm>
          <a:prstGeom prst="rect">
            <a:avLst/>
          </a:prstGeom>
          <a:solidFill>
            <a:srgbClr val="12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90872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Remote Agent (daemon on your machines)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93208"/>
            <a:ext cx="7132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0CFE6"/>
                </a:solidFill>
                <a:latin typeface="Arial"/>
              </a:rPr>
              <a:t>HTTP polling · CLI subprocesses · WebSocket PTY terminal · session sync (Claude/Qwen/Codex/OpenClaw)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206240" y="2734056"/>
            <a:ext cx="365760" cy="201168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4206240" y="4288536"/>
            <a:ext cx="365760" cy="201168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1554480"/>
            <a:ext cx="3154680" cy="425196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D3EE"/>
                </a:solidFill>
                <a:latin typeface="Arial"/>
              </a:rPr>
              <a:t>Why this design?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240280"/>
            <a:ext cx="2651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Real API keys never leave the server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Remote machines hold only short-lived tokens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Tokens are quota-able, revocable, traceable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Works on intranet / private-network machines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Terminal screens recover after disconnects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Vendor-neutral, LiteLLM-ready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9E0B"/>
                </a:solidFill>
                <a:latin typeface="Arial"/>
              </a:rPr>
              <a:t>✦  Built for teams that need self-hosting, intranet machines, centralized key proxying, team quotas, and traceable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CLOUD-NATIVE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Kubernetes / OpenShift Cloud-Native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520440" cy="73152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E293B"/>
                </a:solidFill>
                <a:latin typeface="Arial"/>
              </a:rPr>
              <a:t>☁️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83664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HA Deployment on K8s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One-command Kustomize deploy (kubectl apply -k k8s/)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3 replicas + HPA autoscaling (3→10 pods)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PostgreSQL / Redis StatefulSets, persistent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/livez /readyz probes + Prometheus /metrics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PDB + anti-affinity + graceful rolling updates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Least-privilege NetworkPolicy + non-root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5544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554480"/>
            <a:ext cx="3520440" cy="73152"/>
          </a:xfrm>
          <a:prstGeom prst="rect">
            <a:avLst/>
          </a:prstGeom>
          <a:solidFill>
            <a:srgbClr val="12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288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E293B"/>
                </a:solidFill>
                <a:latin typeface="Arial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1883664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AI Sandbox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6888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Backends per tenant/project: POSIX / remote / sandbox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gVisor / Kata dual-tier secure runtimes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Non-root + read-only rootfs + seccomp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CPU / memory / PIDs / storage limits + TTL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Default-deny egress + FQDN allowlist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Fail-closed: refuse and audit on weak isolation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5448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2" y="1554480"/>
            <a:ext cx="352044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E293B"/>
                </a:solidFill>
                <a:latin typeface="Arial"/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1883664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Multi-User Isolation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468880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Per-user WebUI in its own sandbox pod, token identity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No host OS accounts / sudo chain / host credentials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Tenant-scoped OS isolation, revocable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Stable UIDs across rebuilds; 60s quota sweeps</a:t>
            </a:r>
          </a:p>
          <a:p>
            <a:pPr>
              <a:spcBef>
                <a:spcPts val="700"/>
              </a:spcBef>
            </a:pPr>
            <a:r>
              <a:rPr sz="1050" b="0">
                <a:solidFill>
                  <a:srgbClr val="D8E2F2"/>
                </a:solidFill>
                <a:latin typeface="Arial"/>
              </a:rPr>
              <a:t>•  Session snapshots survive pod recycling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852160"/>
            <a:ext cx="11548872" cy="502920"/>
          </a:xfrm>
          <a:prstGeom prst="rect">
            <a:avLst/>
          </a:prstGeom>
          <a:solidFill>
            <a:srgbClr val="10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852160"/>
            <a:ext cx="914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E8D5A8"/>
                </a:solidFill>
                <a:latin typeface="Arial"/>
              </a:rPr>
              <a:t>🖥️  OpenShift / OKD compatible — standard Kustomize manifests; non-root, read-only rootfs and seccomp satisfy restricted SCC; SSRF guard covers OpenShift internal DNS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Arial"/>
              </a:rPr>
              <a:t>Value for Developers, Managers, and the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611880" cy="8686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562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For 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2971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Every AI coding tool in one entry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Remote machines ready to use, no setup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Session history preserved, knowledge retained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Focus on code — keys and envs handled by the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6002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600200"/>
            <a:ext cx="3611880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8013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8562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For Managers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743200"/>
            <a:ext cx="2971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Tokens / cost / quotas on one screen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Alerts and anomaly detection, early warnings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Audit and report exports, production-ready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Quantified ROI — AI payback made clear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00200"/>
            <a:ext cx="36118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600200"/>
            <a:ext cx="3611880" cy="868680"/>
          </a:xfrm>
          <a:prstGeom prst="rect">
            <a:avLst/>
          </a:prstGeom>
          <a:solidFill>
            <a:srgbClr val="12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180136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185623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For the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2743200"/>
            <a:ext cx="2971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Data and keys never leave your network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Self-hosted deployment, compliance-ready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Multi-tenant isolation, per-department accounting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1E293B"/>
                </a:solidFill>
                <a:latin typeface="Arial"/>
              </a:rPr>
              <a:t>•  Open source control, no vendor lock-in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Arial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Arial"/>
              </a:rPr>
              <a:t>Positioning vs. Market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9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0604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371600"/>
            <a:ext cx="2697480" cy="7315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Open 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371600"/>
            <a:ext cx="2377440" cy="731520"/>
          </a:xfrm>
          <a:prstGeom prst="rect">
            <a:avLst/>
          </a:prstGeom>
          <a:solidFill>
            <a:srgbClr val="3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LLM Gateways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(LiteLLM etc.)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2194560" cy="731520"/>
          </a:xfrm>
          <a:prstGeom prst="rect">
            <a:avLst/>
          </a:prstGeom>
          <a:solidFill>
            <a:srgbClr val="3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AI IDEs/Plugins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(Cursor etc.)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0" y="1371600"/>
            <a:ext cx="1399032" cy="731520"/>
          </a:xfrm>
          <a:prstGeom prst="rect">
            <a:avLst/>
          </a:prstGeom>
          <a:solidFill>
            <a:srgbClr val="33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DIY Scripts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1031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Workspace + control plane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1031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1E293B"/>
                </a:solidFill>
                <a:latin typeface="Arial"/>
              </a:rPr>
              <a:t>Routing &amp; billing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1E293B"/>
                </a:solidFill>
                <a:latin typeface="Arial"/>
              </a:rPr>
              <a:t>Solo coding 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21031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1E293B"/>
                </a:solidFill>
                <a:latin typeface="Arial"/>
              </a:rPr>
              <a:t>Ad hoc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2606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Self-hosting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25603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✅ Default self-hosted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560320"/>
            <a:ext cx="2377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16A34A"/>
                </a:solidFill>
                <a:latin typeface="Arial"/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560320"/>
            <a:ext cx="21945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 Mostly cloud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560320"/>
            <a:ext cx="1399032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16A34A"/>
                </a:solidFill>
                <a:latin typeface="Arial"/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Multi-CLI unified entry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30175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✅ Claude/Qwen/Codex etc.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0175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 Model layer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0175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F59E0B"/>
                </a:solidFill>
                <a:latin typeface="Arial"/>
              </a:rPr>
              <a:t>⚠️ Walled gardens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32720" y="30175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74720"/>
            <a:ext cx="2606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Remote Agent execution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34747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✅ In-browser remote machines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3474720"/>
            <a:ext cx="2377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474720"/>
            <a:ext cx="21945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3474720"/>
            <a:ext cx="1399032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F59E0B"/>
                </a:solidFill>
                <a:latin typeface="Arial"/>
              </a:rPr>
              <a:t>⚠️ DIY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319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Keys never leave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40" y="39319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✅ Short-lived proxy tokens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9319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F59E0B"/>
                </a:solidFill>
                <a:latin typeface="Arial"/>
              </a:rPr>
              <a:t>⚠️ Via gateway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9319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 Local keys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32720" y="39319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89120"/>
            <a:ext cx="2606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Cost/quota/audit/compliance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3891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✅ Unified governance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4389120"/>
            <a:ext cx="2377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F59E0B"/>
                </a:solidFill>
                <a:latin typeface="Arial"/>
              </a:rPr>
              <a:t>⚠️ Billing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4389120"/>
            <a:ext cx="21945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32720" y="4389120"/>
            <a:ext cx="1399032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463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Multi-tenant / SSO / Feishu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48463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48463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F59E0B"/>
                </a:solidFill>
                <a:latin typeface="Arial"/>
              </a:rPr>
              <a:t>⚠️ Partial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48463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2720" y="48463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03520"/>
            <a:ext cx="2606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K8s-native &amp; AI sandboxing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53035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✅ HPA + gVisor/Kata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5303520"/>
            <a:ext cx="23774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F59E0B"/>
                </a:solidFill>
                <a:latin typeface="Arial"/>
              </a:rPr>
              <a:t>⚠️ Container only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5303520"/>
            <a:ext cx="219456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32720" y="5303520"/>
            <a:ext cx="1399032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C0392B"/>
                </a:solidFill>
                <a:latin typeface="Arial"/>
              </a:rPr>
              <a:t>❌ DIY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760720"/>
            <a:ext cx="2606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License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5760720"/>
            <a:ext cx="2697480" cy="457200"/>
          </a:xfrm>
          <a:prstGeom prst="rect">
            <a:avLst/>
          </a:prstGeom>
          <a:solidFill>
            <a:srgbClr val="E8F1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1">
                <a:solidFill>
                  <a:srgbClr val="1E293B"/>
                </a:solidFill>
                <a:latin typeface="Arial"/>
              </a:rPr>
              <a:t>Apache 2.0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576072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1E293B"/>
                </a:solidFill>
                <a:latin typeface="Arial"/>
              </a:rPr>
              <a:t>Varies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5760720"/>
            <a:ext cx="2194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1E293B"/>
                </a:solidFill>
                <a:latin typeface="Arial"/>
              </a:rPr>
              <a:t>Closed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32720" y="5760720"/>
            <a:ext cx="1399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ctr"/>
            <a:r>
              <a:rPr sz="1000" b="0">
                <a:solidFill>
                  <a:srgbClr val="1E293B"/>
                </a:solidFill>
                <a:latin typeface="Arial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1261872"/>
            <a:ext cx="269748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KEY DIFFERENTIATORS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Why Open 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Self-Hosted by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88920"/>
            <a:ext cx="30632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FE6"/>
                </a:solidFill>
                <a:latin typeface="Arial"/>
              </a:rPr>
              <a:t>Keys and session data stay in your own network and database — private, compliant, no cloud dependency.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55448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81051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Control Plane, Not a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2788920"/>
            <a:ext cx="30632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FE6"/>
                </a:solidFill>
                <a:latin typeface="Arial"/>
              </a:rPr>
              <a:t>Replaces none of your tools: brings the CLIs your team already uses under unified access, cost, and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55448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181051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39572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Short-Lived Proxy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2788920"/>
            <a:ext cx="30632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FE6"/>
                </a:solidFill>
                <a:latin typeface="Arial"/>
              </a:rPr>
              <a:t>Real LLM keys stay encrypted server-side; sessions hold expiring tokens — quota-able, revocable, traceable.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88620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422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🖥️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727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Real Remote Execution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120640"/>
            <a:ext cx="30632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FE6"/>
                </a:solidFill>
                <a:latin typeface="Arial"/>
              </a:rPr>
              <a:t>AI CLIs run on dev/staging/GPU machines; in-browser terminal + VSCode proxy, no repeated SSH handoffs.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388620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3168" y="41422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3168" y="4727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Cloud-Native, Sandboxed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5120640"/>
            <a:ext cx="30632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FE6"/>
                </a:solidFill>
                <a:latin typeface="Arial"/>
              </a:rPr>
              <a:t>HA Kubernetes deploy; autonomous dev and multi-user workspaces run in gVisor/Kata sandboxes, fail-closed.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142A4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3886200"/>
            <a:ext cx="91440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41422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727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Vendor-Neutral + Tenancy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5120640"/>
            <a:ext cx="30632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C0CFE6"/>
                </a:solidFill>
                <a:latin typeface="Arial"/>
              </a:rPr>
              <a:t>LiteLLM-compatible gateway, unified multi-CLI governance, tenant isolation and accounting.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6FF5"/>
                </a:solidFill>
                <a:latin typeface="Arial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293B"/>
                </a:solidFill>
                <a:latin typeface="Arial"/>
              </a:rPr>
              <a:t>Who Needs Open ACE Most?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11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Arial"/>
              </a:rPr>
              <a:t>Engineering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Already on Claude Code / Qwen Code / Codex and want one entry, shared prompts, and session continuity.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55448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71907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Arial"/>
              </a:rPr>
              <a:t>AI Platform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84832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Building internal AI tooling that needs key proxying, remote execution, and one governance plane.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55448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71907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Arial"/>
              </a:rPr>
              <a:t>DevOps / IT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084832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Own self-hosted infrastructure, audit, and access control; need private deployment and multi-tenancy.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0632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06324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2783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Arial"/>
              </a:rPr>
              <a:t>Security &amp;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93592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No shared public demos, no scattered keys — needs audit trails and exportable compliance reports.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0632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06324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22783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Arial"/>
              </a:rPr>
              <a:t>GPU / Compute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593592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AI CLIs must run on GPU or staging machines; browser remote workspaces and terminals.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063240"/>
            <a:ext cx="3611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063240"/>
            <a:ext cx="91440" cy="1325880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322783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B1F3A"/>
                </a:solidFill>
                <a:latin typeface="Arial"/>
              </a:rPr>
              <a:t>Multi-Department Enterprises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593592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Need department isolation, independent quota accounting, SSO, and Feishu/DingTalk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09728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Start in 5 Minutes, Roll Out Incrementally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AB8"/>
                </a:solidFill>
                <a:latin typeface="Arial"/>
              </a:rP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D3EE"/>
                </a:solidFill>
                <a:latin typeface="Arial"/>
              </a:rPr>
              <a:t>🚀 One-Command Deploy (Recommended)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4937760" cy="1371600"/>
          </a:xfrm>
          <a:prstGeom prst="rect">
            <a:avLst/>
          </a:prstGeom>
          <a:solidFill>
            <a:srgbClr val="07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l"/>
            <a:r>
              <a:rPr sz="1100">
                <a:solidFill>
                  <a:srgbClr val="A7F3D0"/>
                </a:solidFill>
                <a:latin typeface="Consolas"/>
              </a:rPr>
              <a:t>git clone https://github.com/open-ace/open-ace.git</a:t>
            </a:r>
          </a:p>
          <a:p>
            <a:pPr algn="l"/>
            <a:r>
              <a:rPr sz="1100">
                <a:solidFill>
                  <a:srgbClr val="A7F3D0"/>
                </a:solidFill>
                <a:latin typeface="Consolas"/>
              </a:rPr>
              <a:t>cd open-ace</a:t>
            </a:r>
          </a:p>
          <a:p>
            <a:pPr algn="l"/>
            <a:r>
              <a:rPr sz="1100">
                <a:solidFill>
                  <a:srgbClr val="A7F3D0"/>
                </a:solidFill>
                <a:latin typeface="Consolas"/>
              </a:rPr>
              <a:t>docker compose up -d --build</a:t>
            </a:r>
          </a:p>
          <a:p>
            <a:pPr algn="l"/>
            <a:r>
              <a:rPr sz="1100">
                <a:solidFill>
                  <a:srgbClr val="A7F3D0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6A34A"/>
                </a:solidFill>
                <a:latin typeface="Consolas"/>
              </a:rPr>
              <a:t># open http://localhost:19888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Arial"/>
              </a:rPr>
              <a:t>📦 Other deployment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Source install (local development)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Kubernetes Kustomize (3 replicas + HPA + Prometheus)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Linux systemd / macOS launchd remote agents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D8E2F2"/>
                </a:solidFill>
                <a:latin typeface="Arial"/>
              </a:rPr>
              <a:t>•  SQLite (single box) or PostgreSQL (production)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D3EE"/>
                </a:solidFill>
                <a:latin typeface="Arial"/>
              </a:rPr>
              <a:t>🗺️ Incremental Rollout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404872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404872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8E2F2"/>
                </a:solidFill>
                <a:latin typeface="Arial"/>
              </a:rPr>
              <a:t>Try locally with Docker; evaluate both modes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044952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044952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8E2F2"/>
                </a:solidFill>
                <a:latin typeface="Arial"/>
              </a:rPr>
              <a:t>Onboard team keys; enable the API Key proxy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685031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685031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8E2F2"/>
                </a:solidFill>
                <a:latin typeface="Arial"/>
              </a:rPr>
              <a:t>Deploy Remote Agents to dev/staging/GPU hosts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325111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325111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8E2F2"/>
                </a:solidFill>
                <a:latin typeface="Arial"/>
              </a:rPr>
              <a:t>Move to HA Kubernetes; enable AI sandboxing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965192"/>
            <a:ext cx="777240" cy="384048"/>
          </a:xfrm>
          <a:prstGeom prst="rect">
            <a:avLst/>
          </a:prstGeom>
          <a:solidFill>
            <a:srgbClr val="1E6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965192"/>
            <a:ext cx="3931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D8E2F2"/>
                </a:solidFill>
                <a:latin typeface="Arial"/>
              </a:rPr>
              <a:t>Quotas, audit, SSO + compliance &amp; ROI reports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7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28016" cy="2377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Bring AI coding agents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7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2D3EE"/>
                </a:solidFill>
                <a:latin typeface="Arial"/>
              </a:rPr>
              <a:t>Keep keys, cost, and risk under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6EA"/>
                </a:solidFill>
                <a:latin typeface="Arial"/>
              </a:rPr>
              <a:t>Open ACE — the self-hosted workspace and control plane for AI coding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257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www.open-ace.com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5257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github.com/open-ace/open-ace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5257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open-ace.github.io/open-ace-docs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429768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02A4D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44805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495604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5257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Arial"/>
              </a:rPr>
              <a:t>GitHub Discussions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AB8"/>
                </a:solidFill>
                <a:latin typeface="Arial"/>
              </a:rPr>
              <a:t>Apache 2.0 open source  ·  Self-hosted first  ·  Vendor-neutral  ·  Built for real engineering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